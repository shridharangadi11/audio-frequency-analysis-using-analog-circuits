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gw/bTk9wrdhmW5PV3urG46T9jt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9ea8ac21_4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69ea8ac21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jp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jp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10.jpg"/><Relationship Id="rId5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jpg"/><Relationship Id="rId6" Type="http://schemas.openxmlformats.org/officeDocument/2006/relationships/hyperlink" Target="http://drive.google.com/file/d/1wtjcvXK3mavkoCre2cELbYJrKOd0b-TW/view" TargetMode="External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jpg"/><Relationship Id="rId6" Type="http://schemas.openxmlformats.org/officeDocument/2006/relationships/hyperlink" Target="http://drive.google.com/file/d/1LpDpPbpyoxs-n7btidHVFPPkQd-zM-_L/view" TargetMode="External"/><Relationship Id="rId7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1c186e5-54f3-4ba4-b29f-5b6365f6bb1d.png"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1741" y="0"/>
            <a:ext cx="1193637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4c1b5c1-3c90-41f4-8f56-7a87a92cbfc1.png"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5899" y="25916"/>
            <a:ext cx="4365523" cy="9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-325" y="1454050"/>
            <a:ext cx="12192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Introduction</a:t>
            </a:r>
            <a:endParaRPr sz="3300"/>
          </a:p>
        </p:txBody>
      </p:sp>
      <p:sp>
        <p:nvSpPr>
          <p:cNvPr id="88" name="Google Shape;88;p1"/>
          <p:cNvSpPr txBox="1"/>
          <p:nvPr/>
        </p:nvSpPr>
        <p:spPr>
          <a:xfrm>
            <a:off x="-325" y="2809400"/>
            <a:ext cx="121920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Name: </a:t>
            </a:r>
            <a:r>
              <a:rPr b="1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IRCUIT CRAFTERS</a:t>
            </a:r>
            <a:endParaRPr b="1" sz="2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Members: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Shridhar Angadi</a:t>
            </a:r>
            <a:endParaRPr sz="2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Shrinivas M</a:t>
            </a:r>
            <a:endParaRPr sz="2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Vaibhav Revankar</a:t>
            </a:r>
            <a:endParaRPr sz="2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Vanishree Kulakarni</a:t>
            </a:r>
            <a:endParaRPr sz="2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051" y="0"/>
            <a:ext cx="1051266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1c186e5-54f3-4ba4-b29f-5b6365f6bb1d.png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77832" y="8639"/>
            <a:ext cx="1179871" cy="8971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4c1b5c1-3c90-41f4-8f56-7a87a92cbfc1.png"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983" y="17277"/>
            <a:ext cx="4408785" cy="88848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640080" y="914400"/>
            <a:ext cx="31633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822949" y="1645925"/>
            <a:ext cx="11096400" cy="4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Title:</a:t>
            </a: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Audio Frequency Analysis using Analog Circuits</a:t>
            </a: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low-noise analog front-end for microphone signals. 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 audio signals using a microphone.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Amplify the weak microphone signal using a low-noise amplifier.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unwanted low-frequency noise using an active high-pass filter.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unwanted high-frequency noise using an active low-pass filter.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Adjust the signal amplitude using a gain/level adjustment circuit.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the signal to a suitable DC bias level for the ADC.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the conditioned analog signal into digital data using an ADC.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the digital audio signal using a microcontroller.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051" y="0"/>
            <a:ext cx="1051266" cy="9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-2668950" y="1822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1c186e5-54f3-4ba4-b29f-5b6365f6bb1d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4067" y="0"/>
            <a:ext cx="1173972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4c1b5c1-3c90-41f4-8f56-7a87a92cbfc1.png" id="107" name="Google Shape;10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9975" y="0"/>
            <a:ext cx="373035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 txBox="1"/>
          <p:nvPr/>
        </p:nvSpPr>
        <p:spPr>
          <a:xfrm>
            <a:off x="640080" y="914400"/>
            <a:ext cx="16213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051" y="0"/>
            <a:ext cx="1051266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6">
            <a:alphaModFix/>
          </a:blip>
          <a:srcRect b="0" l="0" r="0" t="9674"/>
          <a:stretch/>
        </p:blipFill>
        <p:spPr>
          <a:xfrm>
            <a:off x="5677100" y="1204000"/>
            <a:ext cx="6427075" cy="547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0" y="1558900"/>
            <a:ext cx="5763300" cy="5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Audio Acquisition &amp; Amplification:</a:t>
            </a:r>
            <a:r>
              <a:rPr lang="en-US" sz="1800">
                <a:solidFill>
                  <a:schemeClr val="dk1"/>
                </a:solidFill>
              </a:rPr>
              <a:t> The electret microphone captures the audio signal, and the </a:t>
            </a:r>
            <a:r>
              <a:rPr b="1" lang="en-US" sz="1800">
                <a:solidFill>
                  <a:schemeClr val="dk1"/>
                </a:solidFill>
              </a:rPr>
              <a:t>preamplifier</a:t>
            </a:r>
            <a:r>
              <a:rPr lang="en-US" sz="1800">
                <a:solidFill>
                  <a:schemeClr val="dk1"/>
                </a:solidFill>
              </a:rPr>
              <a:t> boosts the weak microphone output to a suitable level with adjustable gain.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Frequency Conditioning &amp; ADC Protection:</a:t>
            </a:r>
            <a:r>
              <a:rPr lang="en-US" sz="1800">
                <a:solidFill>
                  <a:schemeClr val="dk1"/>
                </a:solidFill>
              </a:rPr>
              <a:t> The amplified signal passes through </a:t>
            </a:r>
            <a:r>
              <a:rPr b="1" lang="en-US" sz="1800">
                <a:solidFill>
                  <a:schemeClr val="dk1"/>
                </a:solidFill>
              </a:rPr>
              <a:t>2nd-order Sallen-Key HPF and LPF stages</a:t>
            </a:r>
            <a:r>
              <a:rPr lang="en-US" sz="1800">
                <a:solidFill>
                  <a:schemeClr val="dk1"/>
                </a:solidFill>
              </a:rPr>
              <a:t> to retain the required frequency band and suppress unwanted noise; a </a:t>
            </a:r>
            <a:r>
              <a:rPr b="1" lang="en-US" sz="1800">
                <a:solidFill>
                  <a:schemeClr val="dk1"/>
                </a:solidFill>
              </a:rPr>
              <a:t>level shifter</a:t>
            </a:r>
            <a:r>
              <a:rPr lang="en-US" sz="1800">
                <a:solidFill>
                  <a:schemeClr val="dk1"/>
                </a:solidFill>
              </a:rPr>
              <a:t> then adds DC bias so the complete waveform stays within the </a:t>
            </a:r>
            <a:r>
              <a:rPr b="1" lang="en-US" sz="1800">
                <a:solidFill>
                  <a:schemeClr val="dk1"/>
                </a:solidFill>
              </a:rPr>
              <a:t>0–3.3 V ESP32 ADC range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Digitization &amp; Processing:</a:t>
            </a:r>
            <a:r>
              <a:rPr lang="en-US" sz="1800">
                <a:solidFill>
                  <a:schemeClr val="dk1"/>
                </a:solidFill>
              </a:rPr>
              <a:t> The conditioned analog signal is fed to the </a:t>
            </a:r>
            <a:r>
              <a:rPr b="1" lang="en-US" sz="1800">
                <a:solidFill>
                  <a:schemeClr val="dk1"/>
                </a:solidFill>
              </a:rPr>
              <a:t>ESP32 ADC</a:t>
            </a:r>
            <a:r>
              <a:rPr lang="en-US" sz="1800">
                <a:solidFill>
                  <a:schemeClr val="dk1"/>
                </a:solidFill>
              </a:rPr>
              <a:t>, which converts it into digital samples for further </a:t>
            </a:r>
            <a:r>
              <a:rPr b="1" lang="en-US" sz="1800">
                <a:solidFill>
                  <a:schemeClr val="dk1"/>
                </a:solidFill>
              </a:rPr>
              <a:t>frequency analysis, signal processing, and output/display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1c186e5-54f3-4ba4-b29f-5b6365f6bb1d.png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7646" y="0"/>
            <a:ext cx="1134642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4c1b5c1-3c90-41f4-8f56-7a87a92cbfc1.png"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982" y="62998"/>
            <a:ext cx="3897507" cy="80568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538834" y="1163783"/>
            <a:ext cx="345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Provided: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051" y="0"/>
            <a:ext cx="1051266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4250" y="1071000"/>
            <a:ext cx="4530076" cy="247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538825" y="1936350"/>
            <a:ext cx="5475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Regulated Bandwidth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Adjustable bandwidth within 20 Hz–20 kHz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 Gain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Output amplitude controlled through a potentiometer-based variable gain stage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Microphone Interface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Ability to accept microphone input as a real-world test signal.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 Amplification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Provide a clean, amplified output while preserving the input signal characteristics </a:t>
            </a:r>
            <a:endParaRPr sz="4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84250" y="3746300"/>
            <a:ext cx="4530076" cy="23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9ea8ac21_4_7"/>
          <p:cNvSpPr txBox="1"/>
          <p:nvPr/>
        </p:nvSpPr>
        <p:spPr>
          <a:xfrm>
            <a:off x="747750" y="199550"/>
            <a:ext cx="10984800" cy="5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Circuit Design and Output Graphs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g3f69ea8ac21_4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300" y="3844200"/>
            <a:ext cx="5031474" cy="275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f69ea8ac21_4_7"/>
          <p:cNvPicPr preferRelativeResize="0"/>
          <p:nvPr/>
        </p:nvPicPr>
        <p:blipFill rotWithShape="1">
          <a:blip r:embed="rId4">
            <a:alphaModFix/>
          </a:blip>
          <a:srcRect b="0" l="0" r="0" t="12442"/>
          <a:stretch/>
        </p:blipFill>
        <p:spPr>
          <a:xfrm>
            <a:off x="944200" y="793950"/>
            <a:ext cx="10303576" cy="315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f69ea8ac21_4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4200" y="3946925"/>
            <a:ext cx="5272101" cy="26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1c186e5-54f3-4ba4-b29f-5b6365f6bb1d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199" y="-1"/>
            <a:ext cx="1103672" cy="914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4c1b5c1-3c90-41f4-8f56-7a87a92cbfc1.png" id="138" name="Google Shape;1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0311" y="17279"/>
            <a:ext cx="3789353" cy="80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051" y="0"/>
            <a:ext cx="1051266" cy="9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170639" y="1241571"/>
            <a:ext cx="17126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Simulation :</a:t>
            </a:r>
            <a:endParaRPr/>
          </a:p>
        </p:txBody>
      </p:sp>
      <p:pic>
        <p:nvPicPr>
          <p:cNvPr id="141" name="Google Shape;141;p6" title="simulation 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53650" y="1849925"/>
            <a:ext cx="8448275" cy="426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1c186e5-54f3-4ba4-b29f-5b6365f6bb1d.png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0"/>
            <a:ext cx="105451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4c1b5c1-3c90-41f4-8f56-7a87a92cbfc1.png"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69975" y="62998"/>
            <a:ext cx="3799185" cy="80568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640080" y="914400"/>
            <a:ext cx="26895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051" y="0"/>
            <a:ext cx="1051266" cy="91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 title="Audio_frq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9300" y="1437625"/>
            <a:ext cx="10591800" cy="52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0" y="0"/>
            <a:ext cx="12191695" cy="983226"/>
          </a:xfrm>
          <a:prstGeom prst="rect">
            <a:avLst/>
          </a:prstGeom>
          <a:solidFill>
            <a:srgbClr val="F5F7FA"/>
          </a:solidFill>
          <a:ln cap="flat" cmpd="sng" w="9525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1c186e5-54f3-4ba4-b29f-5b6365f6bb1d.png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75619" y="0"/>
            <a:ext cx="1093593" cy="983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4c1b5c1-3c90-41f4-8f56-7a87a92cbfc1.png" id="158" name="Google Shape;1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0480" y="54358"/>
            <a:ext cx="3838514" cy="86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 txBox="1"/>
          <p:nvPr/>
        </p:nvSpPr>
        <p:spPr>
          <a:xfrm>
            <a:off x="3154188" y="2955577"/>
            <a:ext cx="5211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1050" y="0"/>
            <a:ext cx="1093593" cy="98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Samsher Patil</dc:creator>
</cp:coreProperties>
</file>